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"/>
  </p:notesMasterIdLst>
  <p:sldIdLst>
    <p:sldId id="257" r:id="rId2"/>
  </p:sldIdLst>
  <p:sldSz cx="36576000" cy="2743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E9F2A0-8029-4D85-A8C0-3F9F2EC32EB8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736D16-79DF-D559-2598-A01853ED122B}" name="Schneider, Patrick J" initials="SP" userId="S::pjs113@pitt.edu::0cead25d-db16-4150-a12e-3509bc328160" providerId="AD"/>
  <p188:author id="{85169A20-003A-6258-31D9-2B4A979183D8}" name="Altvater, Joe" initials="JA" userId="S::JCA64@pitt.edu::87aa0ddb-2b79-4bb7-8600-86b2f3ac19a6" providerId="AD"/>
  <p188:author id="{A0E1E880-3098-B7EC-BC24-66B70DD17305}" name="Giganti Dima, Daniel" initials="DG" userId="S::DZG4@pitt.edu::44f146f9-e368-48de-839d-0ce2bfcaff85" providerId="AD"/>
  <p188:author id="{20BE5BB9-3E8B-5CDD-6041-A5451FD7BD6F}" name="Smelko, Ethan G" initials="ES" userId="S::EGS41@pitt.edu::ada49b5e-b649-4b28-8cb3-3d760a98cbfb" providerId="AD"/>
  <p188:author id="{A868FCEB-23DE-63A7-D8F1-A928C6200B67}" name="Puerzer, Josh" initials="JP" userId="S::JAP388@pitt.edu::d5eb9d9d-bfd7-49ca-bb02-4d328b2d5e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866"/>
    <a:srgbClr val="FFEEB7"/>
    <a:srgbClr val="FFDA65"/>
    <a:srgbClr val="3367CD"/>
    <a:srgbClr val="DFBD69"/>
    <a:srgbClr val="B9A270"/>
    <a:srgbClr val="E2D6AC"/>
    <a:srgbClr val="CDB870"/>
    <a:srgbClr val="1C2957"/>
    <a:srgbClr val="FFE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BD898-6194-4A4D-B2C2-FEF60B21B74A}" v="48" dt="2025-12-02T21:35:57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4814" y="-5851"/>
      </p:cViewPr>
      <p:guideLst>
        <p:guide orient="horz" pos="864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AEEB1-828C-418D-BE14-1571538FB5E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9ACFC-FDAC-47A9-97E8-BB322ADA5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1pPr>
    <a:lvl2pPr marL="1724284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2pPr>
    <a:lvl3pPr marL="3448568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3pPr>
    <a:lvl4pPr marL="5172852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4pPr>
    <a:lvl5pPr marL="6897136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5pPr>
    <a:lvl6pPr marL="8621420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6pPr>
    <a:lvl7pPr marL="10345704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7pPr>
    <a:lvl8pPr marL="12069989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8pPr>
    <a:lvl9pPr marL="13794273" algn="l" defTabSz="3448568" rtl="0" eaLnBrk="1" latinLnBrk="0" hangingPunct="1">
      <a:defRPr sz="4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B2B1-ADAE-B833-C305-9ADDBFAC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C968C-4F6F-2704-206A-A08676875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1FFA0-1709-9362-653E-32156C9CB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4807A-8CD5-AD13-17EF-8CEB2B133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9ACFC-FDAC-47A9-97E8-BB322ADA5C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62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619E-9954-D00C-0A7E-68DC49628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4489452"/>
            <a:ext cx="27432000" cy="95504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4E42-A8A8-0F2A-50AF-8BF6BE9CB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14408152"/>
            <a:ext cx="27432000" cy="6623048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32BE-5A43-EC4B-A412-A9B775E3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ABAC1-DCB2-B1CC-DAEC-EE5BBEA8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03A6D-8F98-B576-E066-B3AB9D7F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4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3122-2AB1-A2FB-96FA-8B215FE8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95CC9-1084-E53E-41AF-B12A9A6BB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84DE7-168E-792E-530F-C703008F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1F00-71CE-C0AE-C76E-A902ED0FB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E4F20-0EA0-5DAB-4182-D75EFDD0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4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8CBF-B508-A91A-3F68-1C01B079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550" y="6838954"/>
            <a:ext cx="31546800" cy="11410948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5F469-0D5C-8990-EE2D-61C433F5D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5550" y="18357854"/>
            <a:ext cx="31546800" cy="6000748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0A7B-C61B-8E21-F085-D6A826B8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AD983-0119-66F7-D34B-6EE36AED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472FE-9794-CEA7-5DD1-43A1BA9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B023-304F-98F8-5D09-3D2D9DD7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590C-15EF-B555-F2EE-2541405FE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4600" y="7302500"/>
            <a:ext cx="155448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A7A7E-F5CA-7517-9743-0F19EA91C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516600" y="7302500"/>
            <a:ext cx="155448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7B5A6-6D2C-F81E-EEB7-1475AFAA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F826E-A443-BF4C-C822-7F1D84B7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5DAB-BD5F-0AF2-1EE8-3A7A14C4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3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E9D0-BCD5-A266-5A25-005DD812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364" y="1460502"/>
            <a:ext cx="31546800" cy="53022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470FA-16CB-86CE-B480-C3E318DAE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9366" y="6724652"/>
            <a:ext cx="15473361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2FA5A-3639-0D5B-C887-612DBC860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9366" y="10020300"/>
            <a:ext cx="1547336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9C407-E6F2-6E58-A965-F8FECA3C2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516600" y="6724652"/>
            <a:ext cx="15549564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DC9B4F-AB29-C2C4-A4CB-4277CF8A6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8516600" y="10020300"/>
            <a:ext cx="15549564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ABF85-8C1E-1682-8589-2BECDA68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5E2D4-8DB4-3A67-B237-E7F68682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B19A0-F38F-CB51-8C10-0D5ECD41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3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28A0-B4A2-9819-837B-49D7B7DC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7A7E2B-B5B0-9B77-6846-521473DFC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179BE-A6D8-AA41-7381-6C41AE63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F1D09-E341-0F45-95EE-49B603EC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4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84FF0-590A-262C-9161-4DB3F51E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67512-C508-E94D-09D3-14BADB2C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C018F-3B55-360C-B727-71D567A1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4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1B1A-3592-38B8-F651-23CAB392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366" y="1828800"/>
            <a:ext cx="11796711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F1C6D-252B-231B-6120-2D91F078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9564" y="3949702"/>
            <a:ext cx="18516600" cy="194945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6BA43-8946-1C70-83C3-08433268F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9366" y="8229600"/>
            <a:ext cx="11796711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1E146-933E-3158-E31C-79BD5651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24E45-2DB9-C194-C6D4-8528196F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76B56-2745-DAE0-77F3-68E4FF89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6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9204-005B-8DA9-49F1-D5F69DF2A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366" y="1828800"/>
            <a:ext cx="11796711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787E8F-214F-3AEE-132C-5F6F497BA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549564" y="3949702"/>
            <a:ext cx="18516600" cy="19494500"/>
          </a:xfrm>
        </p:spPr>
        <p:txBody>
          <a:bodyPr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C3443-8E92-2BC8-59D3-F3361D74F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9366" y="8229600"/>
            <a:ext cx="11796711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E29-E176-F49A-768A-73EB4A5A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2209D-7469-23CA-0F2D-DA57CB29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5B847-5139-0482-77A2-71EDDCC9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3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AE4F-7B37-CA0E-0FAB-7773CF85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B0F34-38E6-5BAB-83DC-E5526FBF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5F1C5-7335-71FE-73A5-607BDD35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2BA1F-02C3-6BF8-0211-F000E0D5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F0C2-E367-DF43-8E81-15F98F78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8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F8F2-4337-1983-B7F8-4B8156B8E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6174700" y="1460500"/>
            <a:ext cx="7886700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7E637-05FD-658B-A166-7DE36AD50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4600" y="1460500"/>
            <a:ext cx="23202900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476B-E76D-9063-8C26-3EE21C01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EAA28-ADB6-9010-0887-C48217D6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8BFC-6E5A-8421-5FBE-EB0410CB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869B8-6506-A181-DC29-41B729470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460502"/>
            <a:ext cx="315468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8A145-E0C7-6703-A24C-0DCA490C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0" y="7302500"/>
            <a:ext cx="315468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A0AC-977A-DCB0-08A9-3AE44C790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4600" y="25425402"/>
            <a:ext cx="8229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CE345-771F-4261-9E55-BC7440627F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F5FD1-602C-F12C-F045-913930DDA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15800" y="25425402"/>
            <a:ext cx="123444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2F9B-ADD0-B1AC-BD5E-4138007EB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831800" y="25425402"/>
            <a:ext cx="8229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E6103-507D-49BC-84B8-A78BBCEEB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3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54A78-B729-1D12-A8F4-C1AAEC76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FC8353-A345-D2B8-DF4B-1F18E74AF8E3}"/>
              </a:ext>
            </a:extLst>
          </p:cNvPr>
          <p:cNvCxnSpPr>
            <a:cxnSpLocks/>
          </p:cNvCxnSpPr>
          <p:nvPr/>
        </p:nvCxnSpPr>
        <p:spPr>
          <a:xfrm>
            <a:off x="12290298" y="160336"/>
            <a:ext cx="22864" cy="27271664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9957F01-E7F4-FBA8-3CDE-5029B461FF57}"/>
              </a:ext>
            </a:extLst>
          </p:cNvPr>
          <p:cNvCxnSpPr>
            <a:cxnSpLocks/>
          </p:cNvCxnSpPr>
          <p:nvPr/>
        </p:nvCxnSpPr>
        <p:spPr>
          <a:xfrm>
            <a:off x="24329574" y="-11763"/>
            <a:ext cx="38403" cy="27443763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6C84289-F04F-7162-5466-8A23C1096572}"/>
              </a:ext>
            </a:extLst>
          </p:cNvPr>
          <p:cNvSpPr/>
          <p:nvPr/>
        </p:nvSpPr>
        <p:spPr>
          <a:xfrm>
            <a:off x="2306" y="22787441"/>
            <a:ext cx="12197468" cy="9167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1000">
                <a:srgbClr val="FFEEB7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Requirements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2EE438-45E5-C857-DD43-BF6F21DFEE1A}"/>
              </a:ext>
            </a:extLst>
          </p:cNvPr>
          <p:cNvSpPr/>
          <p:nvPr/>
        </p:nvSpPr>
        <p:spPr>
          <a:xfrm>
            <a:off x="35672" y="15719577"/>
            <a:ext cx="12197468" cy="9167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1000">
                <a:srgbClr val="FFEEB7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2EFA2CC8-844C-F20D-B1D7-28957B5F7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6" y="-87922"/>
            <a:ext cx="36630970" cy="4082643"/>
          </a:xfrm>
          <a:prstGeom prst="rect">
            <a:avLst/>
          </a:prstGeom>
          <a:gradFill flip="none" rotWithShape="1">
            <a:gsLst>
              <a:gs pos="48000">
                <a:srgbClr val="FFEEB7"/>
              </a:gs>
              <a:gs pos="14000">
                <a:srgbClr val="FFC000"/>
              </a:gs>
              <a:gs pos="0">
                <a:schemeClr val="tx1"/>
              </a:gs>
              <a:gs pos="83000">
                <a:srgbClr val="FFC000"/>
              </a:gs>
              <a:gs pos="100000">
                <a:schemeClr val="tx1"/>
              </a:gs>
            </a:gsLst>
            <a:lin ang="0" scaled="0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98500" dist="38100" dir="2700000">
              <a:srgbClr val="000000">
                <a:alpha val="40000"/>
              </a:srgbClr>
            </a:outerShdw>
            <a:reflection stA="40000" endPos="54000" dist="50800" dir="5400000" sy="-100000" algn="bl" rotWithShape="0"/>
          </a:effectLst>
        </p:spPr>
        <p:txBody>
          <a:bodyPr wrap="none" lIns="91436" tIns="45717" rIns="91436" bIns="45717" anchor="ctr"/>
          <a:lstStyle/>
          <a:p>
            <a:pPr>
              <a:defRPr/>
            </a:pPr>
            <a:endParaRPr lang="en-US" sz="6800"/>
          </a:p>
        </p:txBody>
      </p:sp>
      <p:sp>
        <p:nvSpPr>
          <p:cNvPr id="16" name="Text Placeholder 466">
            <a:extLst>
              <a:ext uri="{FF2B5EF4-FFF2-40B4-BE49-F238E27FC236}">
                <a16:creationId xmlns:a16="http://schemas.microsoft.com/office/drawing/2014/main" id="{C034F46D-F710-1A76-D67D-58A25C6A0922}"/>
              </a:ext>
            </a:extLst>
          </p:cNvPr>
          <p:cNvSpPr txBox="1">
            <a:spLocks/>
          </p:cNvSpPr>
          <p:nvPr/>
        </p:nvSpPr>
        <p:spPr>
          <a:xfrm>
            <a:off x="1447564" y="160336"/>
            <a:ext cx="33584586" cy="1637974"/>
          </a:xfrm>
          <a:prstGeom prst="rect">
            <a:avLst/>
          </a:prstGeom>
        </p:spPr>
        <p:txBody>
          <a:bodyPr>
            <a:noAutofit/>
          </a:bodyPr>
          <a:lstStyle>
            <a:lvl1pPr marL="1293213" indent="-1293213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01962" indent="-1077678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10710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34994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59278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483562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07847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932131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56415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of 1D Graded Lightweight Broad-Band Microwave Absorbers</a:t>
            </a:r>
            <a:endParaRPr lang="en-US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2" descr="Image result for eaton logo">
            <a:extLst>
              <a:ext uri="{FF2B5EF4-FFF2-40B4-BE49-F238E27FC236}">
                <a16:creationId xmlns:a16="http://schemas.microsoft.com/office/drawing/2014/main" id="{995CDB91-12B1-C427-5C68-240D06FE68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43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18" name="AutoShape 4" descr="Image result for eaton logo">
            <a:extLst>
              <a:ext uri="{FF2B5EF4-FFF2-40B4-BE49-F238E27FC236}">
                <a16:creationId xmlns:a16="http://schemas.microsoft.com/office/drawing/2014/main" id="{C2E9C111-4BA4-711B-31F0-977F7569CA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67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19" name="AutoShape 6" descr="Image result for eaton logo">
            <a:extLst>
              <a:ext uri="{FF2B5EF4-FFF2-40B4-BE49-F238E27FC236}">
                <a16:creationId xmlns:a16="http://schemas.microsoft.com/office/drawing/2014/main" id="{AE2A6348-F0EA-9A48-8457-5BBF39D00D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91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20" name="AutoShape 8" descr="Image result for eaton logo">
            <a:extLst>
              <a:ext uri="{FF2B5EF4-FFF2-40B4-BE49-F238E27FC236}">
                <a16:creationId xmlns:a16="http://schemas.microsoft.com/office/drawing/2014/main" id="{425CFCA8-A4FA-3442-4E53-2746FE198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15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22" name="AutoShape 10" descr="Image result for eaton logo">
            <a:extLst>
              <a:ext uri="{FF2B5EF4-FFF2-40B4-BE49-F238E27FC236}">
                <a16:creationId xmlns:a16="http://schemas.microsoft.com/office/drawing/2014/main" id="{8970F4A0-DFFA-BDF1-8133-FA657597CA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39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60" name="AutoShape 2" descr="https://pitt.app.box.com/representation/file_version_26760646988/image_2048_jpg/1.jpg">
            <a:extLst>
              <a:ext uri="{FF2B5EF4-FFF2-40B4-BE49-F238E27FC236}">
                <a16:creationId xmlns:a16="http://schemas.microsoft.com/office/drawing/2014/main" id="{20D6DE24-6822-B889-9F66-B79091C4D3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63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61" name="AutoShape 4" descr="https://pitt.app.box.com/representation/file_version_26760646988/image_2048_jpg/1.jpg">
            <a:extLst>
              <a:ext uri="{FF2B5EF4-FFF2-40B4-BE49-F238E27FC236}">
                <a16:creationId xmlns:a16="http://schemas.microsoft.com/office/drawing/2014/main" id="{88C7861A-33BD-1C8C-61D0-051F5DF87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8775" y="769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62" name="AutoShape 6" descr="https://pitt.app.box.com/representation/file_version_26760646988/image_2048_jpg/1.jpg">
            <a:extLst>
              <a:ext uri="{FF2B5EF4-FFF2-40B4-BE49-F238E27FC236}">
                <a16:creationId xmlns:a16="http://schemas.microsoft.com/office/drawing/2014/main" id="{3FE3E59E-71DB-10F0-256E-6A4826A50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1175" y="922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6800"/>
          </a:p>
        </p:txBody>
      </p:sp>
      <p:sp>
        <p:nvSpPr>
          <p:cNvPr id="2" name="Text Placeholder 466">
            <a:extLst>
              <a:ext uri="{FF2B5EF4-FFF2-40B4-BE49-F238E27FC236}">
                <a16:creationId xmlns:a16="http://schemas.microsoft.com/office/drawing/2014/main" id="{A4C8A4FF-FA49-D1D9-C16D-B3E82133C27B}"/>
              </a:ext>
            </a:extLst>
          </p:cNvPr>
          <p:cNvSpPr txBox="1">
            <a:spLocks/>
          </p:cNvSpPr>
          <p:nvPr/>
        </p:nvSpPr>
        <p:spPr>
          <a:xfrm>
            <a:off x="1610094" y="1283684"/>
            <a:ext cx="32914028" cy="1637974"/>
          </a:xfrm>
          <a:prstGeom prst="rect">
            <a:avLst/>
          </a:prstGeom>
        </p:spPr>
        <p:txBody>
          <a:bodyPr>
            <a:noAutofit/>
          </a:bodyPr>
          <a:lstStyle>
            <a:lvl1pPr marL="1293213" indent="-1293213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01962" indent="-1077678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10710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34994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59278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483562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07847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932131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56415" indent="-862142" algn="l" defTabSz="344856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7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Engineers: Ethan Smelko, Joshua Puerzer, Patrick Schneider, Daniel Glazer, Joe Altvater, Daniel Giganti Dima</a:t>
            </a:r>
          </a:p>
          <a:p>
            <a:pPr marL="0" indent="0" algn="ctr">
              <a:buNone/>
            </a:pPr>
            <a:r>
              <a:rPr lang="en-US" sz="3900" b="1">
                <a:latin typeface="Times New Roman" panose="02020603050405020304" pitchFamily="18" charset="0"/>
                <a:cs typeface="Times New Roman" panose="02020603050405020304" pitchFamily="18" charset="0"/>
              </a:rPr>
              <a:t>Sponsors: Dr. Paul Leu, DEVCOM Army Research Laboratory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C349461-B4DA-F9DA-8C29-2E21389829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927" y="2234642"/>
            <a:ext cx="4572009" cy="1411227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B451989-8CD7-6265-EDF4-185B4B42B8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1381" y="2352263"/>
            <a:ext cx="3813056" cy="1338075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CA741D7E-C798-25C6-3DA6-7C36C5BEDC80}"/>
              </a:ext>
            </a:extLst>
          </p:cNvPr>
          <p:cNvSpPr/>
          <p:nvPr/>
        </p:nvSpPr>
        <p:spPr>
          <a:xfrm>
            <a:off x="19064" y="4110065"/>
            <a:ext cx="12197468" cy="9167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3000">
                <a:srgbClr val="FFEEB7"/>
              </a:gs>
              <a:gs pos="24000">
                <a:srgbClr val="FFEEB7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822B8A7-4EFA-ABDE-DEEC-FBC417EFDB39}"/>
              </a:ext>
            </a:extLst>
          </p:cNvPr>
          <p:cNvSpPr/>
          <p:nvPr/>
        </p:nvSpPr>
        <p:spPr>
          <a:xfrm>
            <a:off x="48956" y="23985565"/>
            <a:ext cx="12241342" cy="3286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Minimal time complexity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User-friendly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Modular: can choose real or Michielssen materials [1]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Runs with frequency ranges of 0.2 – 2 GHz (LF) and 2 – 8 GHz (HF)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Solutions under 2 mm &amp; -20 dB or 1 mm &amp; -10 dB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Takes in N layers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3200" b="1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39E3D8-9014-D28E-41AB-C1C94AE5C408}"/>
              </a:ext>
            </a:extLst>
          </p:cNvPr>
          <p:cNvSpPr/>
          <p:nvPr/>
        </p:nvSpPr>
        <p:spPr>
          <a:xfrm>
            <a:off x="12344453" y="11940798"/>
            <a:ext cx="11976029" cy="15005441"/>
          </a:xfrm>
          <a:prstGeom prst="rect">
            <a:avLst/>
          </a:prstGeom>
          <a:solidFill>
            <a:srgbClr val="FFE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Gaussian-Bayesian Optimization Results</a:t>
            </a: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             </a:t>
            </a:r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Genetic Algorithm Results</a:t>
            </a: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400" b="1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/>
                <a:ea typeface="Calibri"/>
                <a:cs typeface="Calibri"/>
              </a:rPr>
              <a:t>                       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D179877-7854-8F1B-F08E-6ED1CCF9B396}"/>
              </a:ext>
            </a:extLst>
          </p:cNvPr>
          <p:cNvSpPr/>
          <p:nvPr/>
        </p:nvSpPr>
        <p:spPr>
          <a:xfrm>
            <a:off x="24337497" y="20724988"/>
            <a:ext cx="12139864" cy="3562189"/>
          </a:xfrm>
          <a:prstGeom prst="rect">
            <a:avLst/>
          </a:prstGeom>
          <a:solidFill>
            <a:srgbClr val="FFE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Acknowledgements: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sincerely thank Dr. Paul Leu, Dr. David Schmidt, Dr. Katherine Duncan, and Dr. Quang Nguyen for their support throughout this project.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EAEA32F-B010-AAA7-CAE0-BE840AA8550A}"/>
              </a:ext>
            </a:extLst>
          </p:cNvPr>
          <p:cNvSpPr/>
          <p:nvPr/>
        </p:nvSpPr>
        <p:spPr>
          <a:xfrm>
            <a:off x="24331349" y="24287177"/>
            <a:ext cx="12121681" cy="2659063"/>
          </a:xfrm>
          <a:prstGeom prst="rect">
            <a:avLst/>
          </a:prstGeom>
          <a:solidFill>
            <a:srgbClr val="FFE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US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E.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Michielssen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J.-M. Sajer, S. Ranjithan, and R. Mittra, “Design of Lightweight, Broad-Band Microwave Absorbers Using Genetic Algorithms,” 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Microw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Theory Techn.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41, no. 6-7, pp. 1024-1031, Jun. 1993.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[2] Moore, R. (2016). Electromagnetic composites handbook: Models, measurement, and characterization (2nd ed.). McGraw Hill LLC.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C14878-C294-2EDA-ED4C-6B868C3EA289}"/>
              </a:ext>
            </a:extLst>
          </p:cNvPr>
          <p:cNvCxnSpPr>
            <a:cxnSpLocks/>
            <a:stCxn id="65" idx="1"/>
            <a:endCxn id="65" idx="3"/>
          </p:cNvCxnSpPr>
          <p:nvPr/>
        </p:nvCxnSpPr>
        <p:spPr>
          <a:xfrm>
            <a:off x="12344453" y="19443519"/>
            <a:ext cx="1197602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9C88FC1-4E0E-2E60-EB04-D867FC0E9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52944" y="20724988"/>
            <a:ext cx="5835056" cy="437629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D8D285-CE18-D233-A94D-BFDC0325E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68480"/>
              </p:ext>
            </p:extLst>
          </p:nvPr>
        </p:nvGraphicFramePr>
        <p:xfrm>
          <a:off x="24348264" y="14672788"/>
          <a:ext cx="12129097" cy="603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7379">
                  <a:extLst>
                    <a:ext uri="{9D8B030D-6E8A-4147-A177-3AD203B41FA5}">
                      <a16:colId xmlns:a16="http://schemas.microsoft.com/office/drawing/2014/main" val="1639919117"/>
                    </a:ext>
                  </a:extLst>
                </a:gridCol>
                <a:gridCol w="3813526">
                  <a:extLst>
                    <a:ext uri="{9D8B030D-6E8A-4147-A177-3AD203B41FA5}">
                      <a16:colId xmlns:a16="http://schemas.microsoft.com/office/drawing/2014/main" val="1320972174"/>
                    </a:ext>
                  </a:extLst>
                </a:gridCol>
                <a:gridCol w="3958192">
                  <a:extLst>
                    <a:ext uri="{9D8B030D-6E8A-4147-A177-3AD203B41FA5}">
                      <a16:colId xmlns:a16="http://schemas.microsoft.com/office/drawing/2014/main" val="3688701157"/>
                    </a:ext>
                  </a:extLst>
                </a:gridCol>
              </a:tblGrid>
              <a:tr h="907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400" dirty="0">
                          <a:solidFill>
                            <a:schemeClr val="tx1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400" dirty="0">
                          <a:solidFill>
                            <a:schemeClr val="tx1"/>
                          </a:solidFill>
                          <a:latin typeface="Times New Roman"/>
                        </a:rPr>
                        <a:t>GA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tx1"/>
                          </a:solidFill>
                          <a:latin typeface="Times New Roman"/>
                        </a:rPr>
                        <a:t>BO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701944"/>
                  </a:ext>
                </a:extLst>
              </a:tr>
              <a:tr h="98822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Gains &lt;0dB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156906"/>
                  </a:ext>
                </a:extLst>
              </a:tr>
              <a:tr h="104164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Real Materials Implemented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02657"/>
                  </a:ext>
                </a:extLst>
              </a:tr>
              <a:tr h="104164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Algorithms Work on Multiple Machines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23158"/>
                  </a:ext>
                </a:extLst>
              </a:tr>
              <a:tr h="98822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GA and BO Produce Similar Results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16254"/>
                  </a:ext>
                </a:extLst>
              </a:tr>
              <a:tr h="107103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Benchmark Paper Beaten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/>
                        </a:rPr>
                        <a:t>In-Progress / Future Work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/>
                        </a:rPr>
                        <a:t>In-Progress / Future Work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EF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3324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402E3C4-9730-63E8-4AB9-B712A140837E}"/>
              </a:ext>
            </a:extLst>
          </p:cNvPr>
          <p:cNvSpPr/>
          <p:nvPr/>
        </p:nvSpPr>
        <p:spPr>
          <a:xfrm>
            <a:off x="24367978" y="4994089"/>
            <a:ext cx="12188958" cy="4583416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just"/>
            <a:r>
              <a:rPr lang="en-US" sz="3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To implement the real materials from the </a:t>
            </a:r>
            <a:r>
              <a:rPr lang="en-US" sz="3200" i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Electromagnetic Composites Handbook </a:t>
            </a:r>
            <a:r>
              <a:rPr lang="en-US" sz="32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[2] </a:t>
            </a:r>
            <a:r>
              <a:rPr lang="en-US" sz="3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 materials database was first created. First an automatic implementation with a python package </a:t>
            </a:r>
            <a:r>
              <a:rPr lang="en-US" sz="3200" i="1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pdfplumber</a:t>
            </a:r>
            <a:r>
              <a:rPr lang="en-US" sz="3200" i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; </a:t>
            </a:r>
            <a:r>
              <a:rPr lang="en-US" sz="3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however, it yielded too many data inconsistencies with the time complexity. Ultimately, we decided to use a python dictionary which had a O(1) time complexity. The permittivity and permeability of the materials were needed for calculations, and these calculations were validated through comparing outputs to </a:t>
            </a:r>
            <a:r>
              <a:rPr lang="en-US" sz="32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[2] graphs to the ones generated with the code. </a:t>
            </a:r>
            <a:endParaRPr lang="en-US" sz="32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1D3F9F-2282-8D09-789C-8A94EA45E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6170" y="20724988"/>
            <a:ext cx="5835057" cy="43762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72815B-5EB4-DCD0-F97D-4D6493CEA607}"/>
              </a:ext>
            </a:extLst>
          </p:cNvPr>
          <p:cNvSpPr/>
          <p:nvPr/>
        </p:nvSpPr>
        <p:spPr>
          <a:xfrm>
            <a:off x="12386928" y="4979310"/>
            <a:ext cx="11943146" cy="3512222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just"/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Design was created using optimization methods in Python to include both the </a:t>
            </a:r>
            <a:r>
              <a:rPr lang="en-US" sz="3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Michielssen</a:t>
            </a:r>
            <a:r>
              <a:rPr lang="en-US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material database and the Real material database. These optimizations included Genetic Algorithm (GA) and Bayesian Optimization (BO) to optimize material selection, and Gradient Descent (GD) for thickness optimization. A Pareto front objective was used to evaluate optimizations for lowest thickness and lowest reflection.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4B20A-8DD0-5060-98B1-534B2C2CF372}"/>
              </a:ext>
            </a:extLst>
          </p:cNvPr>
          <p:cNvSpPr txBox="1"/>
          <p:nvPr/>
        </p:nvSpPr>
        <p:spPr>
          <a:xfrm>
            <a:off x="48956" y="4975827"/>
            <a:ext cx="12023435" cy="75405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Goal: </a:t>
            </a:r>
            <a:r>
              <a:rPr lang="en-US" sz="32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Create a hybrid optimization framework</a:t>
            </a:r>
            <a:r>
              <a:rPr lang="en-US" sz="3200">
                <a:latin typeface="Times New Roman"/>
                <a:ea typeface="+mn-lt"/>
                <a:cs typeface="Times New Roman"/>
              </a:rPr>
              <a:t> to optimize the design of</a:t>
            </a:r>
            <a:r>
              <a:rPr lang="en-US" sz="32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multi-layer Radar Absorbing Materials (RAM) for stealth applications. </a:t>
            </a:r>
          </a:p>
          <a:p>
            <a:r>
              <a:rPr lang="en-US" sz="3200" b="1">
                <a:latin typeface="Times New Roman"/>
                <a:ea typeface="+mn-lt"/>
                <a:cs typeface="Times New Roman"/>
              </a:rPr>
              <a:t>Optimization Techniques: </a:t>
            </a:r>
            <a:endParaRPr lang="en-US" sz="32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32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We utilized both a Genetic Algorithm (GA) and Bayesian Optimization (BO)</a:t>
            </a:r>
            <a:r>
              <a:rPr lang="en-US" sz="3200">
                <a:latin typeface="Times New Roman"/>
                <a:ea typeface="+mn-lt"/>
                <a:cs typeface="Times New Roman"/>
              </a:rPr>
              <a:t> with a Gaussian Process and Tree-Structure </a:t>
            </a:r>
            <a:r>
              <a:rPr lang="en-US" sz="3200" err="1">
                <a:latin typeface="Times New Roman"/>
                <a:ea typeface="+mn-lt"/>
                <a:cs typeface="Times New Roman"/>
              </a:rPr>
              <a:t>Parzen</a:t>
            </a:r>
            <a:r>
              <a:rPr lang="en-US" sz="3200">
                <a:latin typeface="Times New Roman"/>
                <a:ea typeface="+mn-lt"/>
                <a:cs typeface="Times New Roman"/>
              </a:rPr>
              <a:t> Estimator. The framework's accuracy is validated through a multi-step process. Our primary validation metric involves plotting our absorption vs. thickness curves against </a:t>
            </a:r>
            <a:r>
              <a:rPr lang="en-US" sz="3200" err="1">
                <a:latin typeface="Times New Roman"/>
                <a:ea typeface="+mn-lt"/>
                <a:cs typeface="Times New Roman"/>
              </a:rPr>
              <a:t>Michielssen's</a:t>
            </a:r>
            <a:r>
              <a:rPr lang="en-US" sz="3200">
                <a:latin typeface="Times New Roman"/>
                <a:ea typeface="+mn-lt"/>
                <a:cs typeface="Times New Roman"/>
              </a:rPr>
              <a:t> established Pareto frontier to visually and mathematically examine our results. We also performed a comparative internal analysis by comparing the optimized structures from our BO and GA methods; if both algorithms arrive at similar conclusions, we can infer that this is a near-optimal structure.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endParaRPr lang="en-US" sz="32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979A0E-EF97-138D-1E56-BCB255178034}"/>
              </a:ext>
            </a:extLst>
          </p:cNvPr>
          <p:cNvSpPr/>
          <p:nvPr/>
        </p:nvSpPr>
        <p:spPr>
          <a:xfrm>
            <a:off x="315354" y="18457333"/>
            <a:ext cx="3633728" cy="4018342"/>
          </a:xfrm>
          <a:prstGeom prst="rect">
            <a:avLst/>
          </a:prstGeom>
          <a:solidFill>
            <a:srgbClr val="FFDA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</a:p>
          <a:p>
            <a:pPr algn="ctr"/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electromagnetic materials</a:t>
            </a: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the optimization algorithms [2].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E8F83C-DFEA-4EF3-7478-1B0A36371B33}"/>
              </a:ext>
            </a:extLst>
          </p:cNvPr>
          <p:cNvSpPr/>
          <p:nvPr/>
        </p:nvSpPr>
        <p:spPr>
          <a:xfrm>
            <a:off x="4342016" y="18457333"/>
            <a:ext cx="3633728" cy="4018342"/>
          </a:xfrm>
          <a:prstGeom prst="rect">
            <a:avLst/>
          </a:prstGeom>
          <a:solidFill>
            <a:srgbClr val="FFDA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Explore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 optimization techniques</a:t>
            </a: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Michielssen [1] results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83342A-0E24-E7CF-E4E1-B8639A46642B}"/>
              </a:ext>
            </a:extLst>
          </p:cNvPr>
          <p:cNvSpPr/>
          <p:nvPr/>
        </p:nvSpPr>
        <p:spPr>
          <a:xfrm>
            <a:off x="8316157" y="18487740"/>
            <a:ext cx="3633728" cy="4018342"/>
          </a:xfrm>
          <a:prstGeom prst="rect">
            <a:avLst/>
          </a:prstGeom>
          <a:solidFill>
            <a:srgbClr val="FFDA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Implement a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factor</a:t>
            </a: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parameter to further reduce reflection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C2CA17-26FD-FB72-2B8B-758CEBBA418C}"/>
              </a:ext>
            </a:extLst>
          </p:cNvPr>
          <p:cNvSpPr/>
          <p:nvPr/>
        </p:nvSpPr>
        <p:spPr>
          <a:xfrm>
            <a:off x="315354" y="16838446"/>
            <a:ext cx="11634529" cy="1362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RAM, optimization occurs when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is minimized </a:t>
            </a: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absorption is maximized</a:t>
            </a:r>
            <a:r>
              <a:rPr lang="en-US" sz="3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principle was our primary objective in all aspects of the project.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CD3E40-6310-1140-BED3-CCED61CF1C2A}"/>
              </a:ext>
            </a:extLst>
          </p:cNvPr>
          <p:cNvSpPr/>
          <p:nvPr/>
        </p:nvSpPr>
        <p:spPr>
          <a:xfrm>
            <a:off x="12313162" y="4110065"/>
            <a:ext cx="11972541" cy="85560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7000">
                <a:srgbClr val="FFEEB7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826C55-4131-8CF5-5C56-E1E77C331E98}"/>
              </a:ext>
            </a:extLst>
          </p:cNvPr>
          <p:cNvSpPr/>
          <p:nvPr/>
        </p:nvSpPr>
        <p:spPr>
          <a:xfrm>
            <a:off x="24378532" y="13710435"/>
            <a:ext cx="12074498" cy="9167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1000">
                <a:srgbClr val="FFEEB7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Validation/Conclusions: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4A7B7D-092F-F8A2-F4C9-784F12FE151C}"/>
              </a:ext>
            </a:extLst>
          </p:cNvPr>
          <p:cNvSpPr/>
          <p:nvPr/>
        </p:nvSpPr>
        <p:spPr>
          <a:xfrm>
            <a:off x="24348265" y="4110065"/>
            <a:ext cx="12227735" cy="9167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3000">
                <a:srgbClr val="FFEEB7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Material Implementation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836568-C91D-8390-E933-7A8CDBFDF450}"/>
              </a:ext>
            </a:extLst>
          </p:cNvPr>
          <p:cNvCxnSpPr/>
          <p:nvPr/>
        </p:nvCxnSpPr>
        <p:spPr>
          <a:xfrm flipH="1">
            <a:off x="19064" y="22650461"/>
            <a:ext cx="123253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F396FF6-78B9-C972-EFC3-72B1AC9FC525}"/>
              </a:ext>
            </a:extLst>
          </p:cNvPr>
          <p:cNvCxnSpPr/>
          <p:nvPr/>
        </p:nvCxnSpPr>
        <p:spPr>
          <a:xfrm flipH="1">
            <a:off x="-35091" y="15612234"/>
            <a:ext cx="123253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29A593F-D74F-AFEB-55F3-C5666B989883}"/>
              </a:ext>
            </a:extLst>
          </p:cNvPr>
          <p:cNvSpPr txBox="1"/>
          <p:nvPr/>
        </p:nvSpPr>
        <p:spPr>
          <a:xfrm>
            <a:off x="12508205" y="25101280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Fig 4: LF Genetic Algorithm Results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BF40D9-AB59-B183-DA7E-AF89EAB04E30}"/>
              </a:ext>
            </a:extLst>
          </p:cNvPr>
          <p:cNvSpPr txBox="1"/>
          <p:nvPr/>
        </p:nvSpPr>
        <p:spPr>
          <a:xfrm>
            <a:off x="18383801" y="25101280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Fig 5: HF Genetic Algorithm Results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0A6123-55C3-05D9-2DA3-221629928FE5}"/>
              </a:ext>
            </a:extLst>
          </p:cNvPr>
          <p:cNvSpPr txBox="1"/>
          <p:nvPr/>
        </p:nvSpPr>
        <p:spPr>
          <a:xfrm>
            <a:off x="12432917" y="18173170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LF Gaussian-Bayesian Optimization Results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EC4467-282A-0212-DF7A-4F670B736871}"/>
              </a:ext>
            </a:extLst>
          </p:cNvPr>
          <p:cNvSpPr txBox="1"/>
          <p:nvPr/>
        </p:nvSpPr>
        <p:spPr>
          <a:xfrm>
            <a:off x="18473548" y="18173170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HF Gaussian-Bayesian Optimization Results</a:t>
            </a:r>
          </a:p>
        </p:txBody>
      </p:sp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0D891E50-3A70-64EF-50A4-D71F61A99E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67302" y="18631933"/>
            <a:ext cx="1038815" cy="1038815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FAD5EC6-A665-C450-B371-BEC20F714D52}"/>
              </a:ext>
            </a:extLst>
          </p:cNvPr>
          <p:cNvGrpSpPr/>
          <p:nvPr/>
        </p:nvGrpSpPr>
        <p:grpSpPr>
          <a:xfrm>
            <a:off x="12942840" y="8817812"/>
            <a:ext cx="10779253" cy="2162620"/>
            <a:chOff x="1387366" y="1633308"/>
            <a:chExt cx="7315200" cy="1299078"/>
          </a:xfrm>
        </p:grpSpPr>
        <p:sp>
          <p:nvSpPr>
            <p:cNvPr id="57" name="Arrow: Pentagon 56">
              <a:extLst>
                <a:ext uri="{FF2B5EF4-FFF2-40B4-BE49-F238E27FC236}">
                  <a16:creationId xmlns:a16="http://schemas.microsoft.com/office/drawing/2014/main" id="{6C748D99-FA67-C204-6569-14DEA1600BF2}"/>
                </a:ext>
              </a:extLst>
            </p:cNvPr>
            <p:cNvSpPr/>
            <p:nvPr/>
          </p:nvSpPr>
          <p:spPr>
            <a:xfrm>
              <a:off x="1387366" y="1633308"/>
              <a:ext cx="1828800" cy="1299078"/>
            </a:xfrm>
            <a:prstGeom prst="homePlate">
              <a:avLst/>
            </a:prstGeom>
            <a:solidFill>
              <a:srgbClr val="FFE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 Material Database</a:t>
              </a:r>
            </a:p>
          </p:txBody>
        </p:sp>
        <p:sp>
          <p:nvSpPr>
            <p:cNvPr id="58" name="Arrow: Pentagon 57">
              <a:extLst>
                <a:ext uri="{FF2B5EF4-FFF2-40B4-BE49-F238E27FC236}">
                  <a16:creationId xmlns:a16="http://schemas.microsoft.com/office/drawing/2014/main" id="{628C366E-7C75-BC82-D60E-7EE60FE48FF9}"/>
                </a:ext>
              </a:extLst>
            </p:cNvPr>
            <p:cNvSpPr/>
            <p:nvPr/>
          </p:nvSpPr>
          <p:spPr>
            <a:xfrm>
              <a:off x="3216166" y="1633308"/>
              <a:ext cx="1828800" cy="1299078"/>
            </a:xfrm>
            <a:prstGeom prst="homePlate">
              <a:avLst/>
            </a:prstGeom>
            <a:solidFill>
              <a:srgbClr val="FFE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 Materials Via GA/BO</a:t>
              </a:r>
            </a:p>
          </p:txBody>
        </p:sp>
        <p:sp>
          <p:nvSpPr>
            <p:cNvPr id="66" name="Arrow: Pentagon 65">
              <a:extLst>
                <a:ext uri="{FF2B5EF4-FFF2-40B4-BE49-F238E27FC236}">
                  <a16:creationId xmlns:a16="http://schemas.microsoft.com/office/drawing/2014/main" id="{1FA887C6-C91C-D37E-136B-EA57999C6589}"/>
                </a:ext>
              </a:extLst>
            </p:cNvPr>
            <p:cNvSpPr/>
            <p:nvPr/>
          </p:nvSpPr>
          <p:spPr>
            <a:xfrm>
              <a:off x="5044966" y="1633308"/>
              <a:ext cx="1828800" cy="1299078"/>
            </a:xfrm>
            <a:prstGeom prst="homePlate">
              <a:avLst/>
            </a:prstGeom>
            <a:solidFill>
              <a:srgbClr val="FFE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 Thickness Via GD 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07CF731-C456-FC0D-CD9C-EA152D550675}"/>
                </a:ext>
              </a:extLst>
            </p:cNvPr>
            <p:cNvSpPr/>
            <p:nvPr/>
          </p:nvSpPr>
          <p:spPr>
            <a:xfrm>
              <a:off x="6873766" y="1633308"/>
              <a:ext cx="1828800" cy="1299078"/>
            </a:xfrm>
            <a:prstGeom prst="rect">
              <a:avLst/>
            </a:prstGeom>
            <a:solidFill>
              <a:srgbClr val="FFEF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Display and Save Pareto Front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55C62BCE-F6B5-C8D3-C5DF-3D8251462A5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209"/>
          <a:stretch>
            <a:fillRect/>
          </a:stretch>
        </p:blipFill>
        <p:spPr>
          <a:xfrm>
            <a:off x="1944737" y="10923598"/>
            <a:ext cx="8138543" cy="4577456"/>
          </a:xfrm>
          <a:prstGeom prst="rect">
            <a:avLst/>
          </a:prstGeom>
        </p:spPr>
      </p:pic>
      <p:pic>
        <p:nvPicPr>
          <p:cNvPr id="34" name="Graphic 33" descr="Checkmark with solid fill">
            <a:extLst>
              <a:ext uri="{FF2B5EF4-FFF2-40B4-BE49-F238E27FC236}">
                <a16:creationId xmlns:a16="http://schemas.microsoft.com/office/drawing/2014/main" id="{261B48F9-EFF2-F3D5-5436-9F11C01036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48761" y="18645062"/>
            <a:ext cx="1038815" cy="1038815"/>
          </a:xfrm>
          <a:prstGeom prst="rect">
            <a:avLst/>
          </a:prstGeom>
        </p:spPr>
      </p:pic>
      <p:pic>
        <p:nvPicPr>
          <p:cNvPr id="39" name="Graphic 38" descr="Checkmark with solid fill">
            <a:extLst>
              <a:ext uri="{FF2B5EF4-FFF2-40B4-BE49-F238E27FC236}">
                <a16:creationId xmlns:a16="http://schemas.microsoft.com/office/drawing/2014/main" id="{1852B118-3409-884A-F154-1E72FABDA2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47839" y="17682134"/>
            <a:ext cx="1038815" cy="1038815"/>
          </a:xfrm>
          <a:prstGeom prst="rect">
            <a:avLst/>
          </a:prstGeom>
        </p:spPr>
      </p:pic>
      <p:pic>
        <p:nvPicPr>
          <p:cNvPr id="41" name="Graphic 40" descr="Checkmark with solid fill">
            <a:extLst>
              <a:ext uri="{FF2B5EF4-FFF2-40B4-BE49-F238E27FC236}">
                <a16:creationId xmlns:a16="http://schemas.microsoft.com/office/drawing/2014/main" id="{20897BB8-7DA4-DD5C-4C3B-DE431C791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47839" y="16573997"/>
            <a:ext cx="1038815" cy="1038815"/>
          </a:xfrm>
          <a:prstGeom prst="rect">
            <a:avLst/>
          </a:prstGeom>
        </p:spPr>
      </p:pic>
      <p:pic>
        <p:nvPicPr>
          <p:cNvPr id="45" name="Graphic 44" descr="Checkmark with solid fill">
            <a:extLst>
              <a:ext uri="{FF2B5EF4-FFF2-40B4-BE49-F238E27FC236}">
                <a16:creationId xmlns:a16="http://schemas.microsoft.com/office/drawing/2014/main" id="{013116FB-E78E-744C-219C-2E9CCFD451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63211" y="15568829"/>
            <a:ext cx="1038815" cy="1038815"/>
          </a:xfrm>
          <a:prstGeom prst="rect">
            <a:avLst/>
          </a:prstGeom>
        </p:spPr>
      </p:pic>
      <p:pic>
        <p:nvPicPr>
          <p:cNvPr id="64" name="Graphic 63" descr="Checkmark with solid fill">
            <a:extLst>
              <a:ext uri="{FF2B5EF4-FFF2-40B4-BE49-F238E27FC236}">
                <a16:creationId xmlns:a16="http://schemas.microsoft.com/office/drawing/2014/main" id="{243E5D3D-7346-8FDA-EA1B-09DE54C33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67301" y="16573997"/>
            <a:ext cx="1038815" cy="1038815"/>
          </a:xfrm>
          <a:prstGeom prst="rect">
            <a:avLst/>
          </a:prstGeom>
        </p:spPr>
      </p:pic>
      <p:pic>
        <p:nvPicPr>
          <p:cNvPr id="68" name="Graphic 67" descr="Checkmark with solid fill">
            <a:extLst>
              <a:ext uri="{FF2B5EF4-FFF2-40B4-BE49-F238E27FC236}">
                <a16:creationId xmlns:a16="http://schemas.microsoft.com/office/drawing/2014/main" id="{10E46353-9981-54B2-8738-2F9CC110A0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18501" y="17606247"/>
            <a:ext cx="1038815" cy="1038815"/>
          </a:xfrm>
          <a:prstGeom prst="rect">
            <a:avLst/>
          </a:prstGeom>
        </p:spPr>
      </p:pic>
      <p:pic>
        <p:nvPicPr>
          <p:cNvPr id="69" name="Graphic 68" descr="Checkmark with solid fill">
            <a:extLst>
              <a:ext uri="{FF2B5EF4-FFF2-40B4-BE49-F238E27FC236}">
                <a16:creationId xmlns:a16="http://schemas.microsoft.com/office/drawing/2014/main" id="{62B778B0-71A5-9258-1C63-17F363AA8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04714" y="15500521"/>
            <a:ext cx="1038815" cy="103881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6A58C5-C07B-60B3-F872-2E440CF11B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" t="2488" r="1165"/>
          <a:stretch>
            <a:fillRect/>
          </a:stretch>
        </p:blipFill>
        <p:spPr bwMode="auto">
          <a:xfrm>
            <a:off x="24397780" y="8993487"/>
            <a:ext cx="5971026" cy="348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78E3122-30D2-210C-1CBE-AD9032B33A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46"/>
          <a:stretch>
            <a:fillRect/>
          </a:stretch>
        </p:blipFill>
        <p:spPr bwMode="auto">
          <a:xfrm>
            <a:off x="30462132" y="8958260"/>
            <a:ext cx="6073918" cy="389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C524600F-1724-19BE-7ADD-B1416940E50D}"/>
              </a:ext>
            </a:extLst>
          </p:cNvPr>
          <p:cNvSpPr txBox="1"/>
          <p:nvPr/>
        </p:nvSpPr>
        <p:spPr>
          <a:xfrm>
            <a:off x="24627635" y="12833809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Python Code Generated Graph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FB4BC-1BBF-A558-0004-353E6BAB9654}"/>
              </a:ext>
            </a:extLst>
          </p:cNvPr>
          <p:cNvSpPr txBox="1"/>
          <p:nvPr/>
        </p:nvSpPr>
        <p:spPr>
          <a:xfrm>
            <a:off x="30609194" y="12654619"/>
            <a:ext cx="5779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</a:t>
            </a:r>
            <a:r>
              <a:rPr lang="en-US" sz="3200" i="1" dirty="0">
                <a:latin typeface="Times New Roman"/>
                <a:ea typeface="+mn-lt"/>
                <a:cs typeface="Times New Roman"/>
              </a:rPr>
              <a:t>Electromagnetic Composites Handbook 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[2], graph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5" name="Picture 74" descr="A graph with a line graph&#10;&#10;AI-generated content may be incorrect.">
            <a:extLst>
              <a:ext uri="{FF2B5EF4-FFF2-40B4-BE49-F238E27FC236}">
                <a16:creationId xmlns:a16="http://schemas.microsoft.com/office/drawing/2014/main" id="{17559AE5-2EE5-648F-DF04-A7FE186B31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/>
          <a:stretch>
            <a:fillRect/>
          </a:stretch>
        </p:blipFill>
        <p:spPr>
          <a:xfrm>
            <a:off x="12475597" y="14077849"/>
            <a:ext cx="5918712" cy="3993196"/>
          </a:xfrm>
          <a:prstGeom prst="rect">
            <a:avLst/>
          </a:prstGeom>
        </p:spPr>
      </p:pic>
      <p:pic>
        <p:nvPicPr>
          <p:cNvPr id="77" name="Picture 76" descr="A graph with colored dots&#10;&#10;AI-generated content may be incorrect.">
            <a:extLst>
              <a:ext uri="{FF2B5EF4-FFF2-40B4-BE49-F238E27FC236}">
                <a16:creationId xmlns:a16="http://schemas.microsoft.com/office/drawing/2014/main" id="{74390F30-53A7-9FB2-785F-6415A5C214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8997" y="14044037"/>
            <a:ext cx="5324264" cy="399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1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ef9f489-e0a0-4eeb-87cc-3a526112fd0d}" enabled="0" method="" siteId="{9ef9f489-e0a0-4eeb-87cc-3a526112fd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687</Words>
  <Application>Microsoft Office PowerPoint</Application>
  <PresentationFormat>Custom</PresentationFormat>
  <Paragraphs>67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</dc:creator>
  <cp:lastModifiedBy>Smelko, Ethan G</cp:lastModifiedBy>
  <cp:revision>4</cp:revision>
  <dcterms:created xsi:type="dcterms:W3CDTF">2015-04-08T16:34:43Z</dcterms:created>
  <dcterms:modified xsi:type="dcterms:W3CDTF">2025-12-03T02:01:22Z</dcterms:modified>
</cp:coreProperties>
</file>